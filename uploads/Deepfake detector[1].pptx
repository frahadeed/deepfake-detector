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RQND Pro UltraWide" panose="020B0604020202020204" charset="0"/>
      <p:regular r:id="rId13"/>
    </p:embeddedFont>
    <p:embeddedFont>
      <p:font typeface="Telegraf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85BA4-F482-4176-BAF9-DF46903E7A3B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38C28-AB9A-4E12-AFBA-3F3D615D2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044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38C28-AB9A-4E12-AFBA-3F3D615D2D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774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500" r="-1250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2791895" y="2384331"/>
            <a:ext cx="13316867" cy="367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78"/>
              </a:lnSpc>
              <a:spcBef>
                <a:spcPct val="0"/>
              </a:spcBef>
            </a:pPr>
            <a:r>
              <a:rPr lang="en-US" sz="10555" dirty="0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Deepfake detector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48541" y="2125366"/>
            <a:ext cx="7190918" cy="42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26"/>
              </a:lnSpc>
              <a:spcBef>
                <a:spcPct val="0"/>
              </a:spcBef>
            </a:pPr>
            <a:r>
              <a:rPr lang="en-US" sz="2662" spc="1551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Introduction 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6026" y="8712127"/>
            <a:ext cx="4953533" cy="1574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215" spc="-8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Aqtedar Kazim (2200540130016) </a:t>
            </a:r>
          </a:p>
          <a:p>
            <a:pPr algn="l">
              <a:lnSpc>
                <a:spcPts val="3101"/>
              </a:lnSpc>
            </a:pPr>
            <a:r>
              <a:rPr lang="en-US" sz="2215" spc="-8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Frah Adeed (2300540139003)</a:t>
            </a:r>
          </a:p>
          <a:p>
            <a:pPr algn="l">
              <a:lnSpc>
                <a:spcPts val="3101"/>
              </a:lnSpc>
            </a:pPr>
            <a:r>
              <a:rPr lang="en-US" sz="2215" spc="-8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Asif Khan (2200540130019)</a:t>
            </a:r>
          </a:p>
          <a:p>
            <a:pPr algn="l">
              <a:lnSpc>
                <a:spcPts val="3101"/>
              </a:lnSpc>
              <a:spcBef>
                <a:spcPct val="0"/>
              </a:spcBef>
            </a:pPr>
            <a:endParaRPr lang="en-US" sz="2215" spc="-88">
              <a:solidFill>
                <a:srgbClr val="DEF0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C13DC-F2B0-E623-4300-989FF24C65FF}"/>
              </a:ext>
            </a:extLst>
          </p:cNvPr>
          <p:cNvSpPr txBox="1"/>
          <p:nvPr/>
        </p:nvSpPr>
        <p:spPr>
          <a:xfrm>
            <a:off x="239483" y="818420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Presented by :-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889277-70F8-06E1-0AEA-F429737C4B73}"/>
              </a:ext>
            </a:extLst>
          </p:cNvPr>
          <p:cNvSpPr txBox="1"/>
          <p:nvPr/>
        </p:nvSpPr>
        <p:spPr>
          <a:xfrm>
            <a:off x="12573000" y="8245758"/>
            <a:ext cx="2781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Guided By :-    </a:t>
            </a:r>
          </a:p>
          <a:p>
            <a:r>
              <a:rPr lang="en-US" sz="2400" dirty="0">
                <a:solidFill>
                  <a:schemeClr val="bg1"/>
                </a:solidFill>
              </a:rPr>
              <a:t>Mr. Arvind Gautam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00DACE-BDC3-2BDD-F002-845AC49291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-2386494"/>
            <a:ext cx="14584762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20633" y="1912001"/>
            <a:ext cx="8246734" cy="89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2"/>
              </a:lnSpc>
            </a:pPr>
            <a:r>
              <a:rPr lang="en-US" sz="7562" dirty="0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26349" y="3871131"/>
            <a:ext cx="13435302" cy="3045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2"/>
              </a:lnSpc>
            </a:pPr>
            <a:r>
              <a:rPr lang="en-US" sz="3423" spc="-136" dirty="0" err="1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DeepFake</a:t>
            </a:r>
            <a:r>
              <a:rPr lang="en-US" sz="3423" spc="-136" dirty="0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images are generated using AI models like GANs. Our</a:t>
            </a:r>
          </a:p>
          <a:p>
            <a:pPr algn="ctr">
              <a:lnSpc>
                <a:spcPts val="4792"/>
              </a:lnSpc>
            </a:pPr>
            <a:r>
              <a:rPr lang="en-US" sz="3423" spc="-136" dirty="0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goal is to train a machine learning model that can detect whether</a:t>
            </a:r>
          </a:p>
          <a:p>
            <a:pPr algn="ctr">
              <a:lnSpc>
                <a:spcPts val="4792"/>
              </a:lnSpc>
            </a:pPr>
            <a:r>
              <a:rPr lang="en-US" sz="3423" spc="-136" dirty="0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an image is real or fake. The ML system learns hidden</a:t>
            </a:r>
          </a:p>
          <a:p>
            <a:pPr algn="ctr">
              <a:lnSpc>
                <a:spcPts val="4792"/>
              </a:lnSpc>
              <a:spcBef>
                <a:spcPct val="0"/>
              </a:spcBef>
            </a:pPr>
            <a:r>
              <a:rPr lang="en-US" sz="3423" spc="-136" dirty="0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patterns, textures, and artifacts that humans cannot see.</a:t>
            </a:r>
          </a:p>
          <a:p>
            <a:pPr algn="ctr">
              <a:lnSpc>
                <a:spcPts val="4792"/>
              </a:lnSpc>
              <a:spcBef>
                <a:spcPct val="0"/>
              </a:spcBef>
            </a:pPr>
            <a:endParaRPr lang="en-US" sz="3423" spc="-136" dirty="0">
              <a:solidFill>
                <a:srgbClr val="DEF0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0DC69C-A777-E441-0A81-DEACCEE8320A}"/>
              </a:ext>
            </a:extLst>
          </p:cNvPr>
          <p:cNvSpPr txBox="1"/>
          <p:nvPr/>
        </p:nvSpPr>
        <p:spPr>
          <a:xfrm>
            <a:off x="838200" y="342900"/>
            <a:ext cx="1516380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RQND Pro UltraWide" panose="020B0604020202020204" charset="0"/>
              </a:rPr>
              <a:t>OBJECTIVE</a:t>
            </a:r>
          </a:p>
          <a:p>
            <a:endParaRPr lang="en-US" sz="4400" dirty="0">
              <a:solidFill>
                <a:schemeClr val="bg1"/>
              </a:solidFill>
            </a:endParaRPr>
          </a:p>
          <a:p>
            <a:endParaRPr lang="en-US" sz="44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• To accurately identify and classify manipulated or AI-generated fake images using deep learning techniques.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• To detect visual inconsistencies such as texture abnormalities, blending artifacts, and unnatural facial features that indicate tampering.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• To train and evaluate a robust model using benchmark image datasets, ensuring high reliability under varying lighting, pose, and resolution conditions.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• To develop a simple and user-friendly system that allows users to upload an image and instantly receive deepfake detection results.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586592-ABB8-C86F-4A0D-DCAF1490A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375827-E6FA-DDEB-91A4-BB7AC5BD6F5C}"/>
              </a:ext>
            </a:extLst>
          </p:cNvPr>
          <p:cNvSpPr txBox="1"/>
          <p:nvPr/>
        </p:nvSpPr>
        <p:spPr>
          <a:xfrm>
            <a:off x="1981200" y="1391703"/>
            <a:ext cx="14325600" cy="750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7560" dirty="0">
                <a:solidFill>
                  <a:schemeClr val="tx2">
                    <a:lumMod val="20000"/>
                    <a:lumOff val="80000"/>
                  </a:schemeClr>
                </a:solidFill>
                <a:latin typeface="RQND Pro UltraWide" panose="020B0604020202020204" charset="0"/>
              </a:rPr>
              <a:t>OBJECTIVE</a:t>
            </a:r>
          </a:p>
          <a:p>
            <a:endParaRPr lang="en-IN" sz="3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endParaRPr lang="en-IN" sz="3200" dirty="0">
              <a:solidFill>
                <a:schemeClr val="tx2">
                  <a:lumMod val="20000"/>
                  <a:lumOff val="80000"/>
                </a:schemeClr>
              </a:solidFill>
              <a:latin typeface="Telegraf" panose="020B0604020202020204" charset="0"/>
            </a:endParaRPr>
          </a:p>
          <a:p>
            <a:r>
              <a:rPr lang="en-IN" sz="3420" dirty="0">
                <a:solidFill>
                  <a:schemeClr val="tx2">
                    <a:lumMod val="20000"/>
                    <a:lumOff val="80000"/>
                  </a:schemeClr>
                </a:solidFill>
                <a:latin typeface="Telegraf" panose="020B0604020202020204" charset="0"/>
              </a:rPr>
              <a:t>• To accurately identify and classify manipulated or AI-generated fake images using deep learning techniques.</a:t>
            </a:r>
          </a:p>
          <a:p>
            <a:r>
              <a:rPr lang="en-IN" sz="3420" dirty="0">
                <a:solidFill>
                  <a:schemeClr val="tx2">
                    <a:lumMod val="20000"/>
                    <a:lumOff val="80000"/>
                  </a:schemeClr>
                </a:solidFill>
                <a:latin typeface="Telegraf" panose="020B0604020202020204" charset="0"/>
              </a:rPr>
              <a:t>• To detect visual inconsistencies such as texture abnormalities, blending artifacts, and unnatural facial features that indicate tampering.</a:t>
            </a:r>
          </a:p>
          <a:p>
            <a:r>
              <a:rPr lang="en-IN" sz="3420" dirty="0">
                <a:solidFill>
                  <a:schemeClr val="tx2">
                    <a:lumMod val="20000"/>
                    <a:lumOff val="80000"/>
                  </a:schemeClr>
                </a:solidFill>
                <a:latin typeface="Telegraf" panose="020B0604020202020204" charset="0"/>
              </a:rPr>
              <a:t>• To train and evaluate a robust model using benchmark image datasets, ensuring high reliability under varying lighting, pose, and resolution conditions.</a:t>
            </a:r>
          </a:p>
          <a:p>
            <a:r>
              <a:rPr lang="en-IN" sz="3420" dirty="0">
                <a:solidFill>
                  <a:schemeClr val="tx2">
                    <a:lumMod val="20000"/>
                    <a:lumOff val="80000"/>
                  </a:schemeClr>
                </a:solidFill>
                <a:latin typeface="Telegraf" panose="020B0604020202020204" charset="0"/>
              </a:rPr>
              <a:t>• To develop a simple and user-friendly system that allows users to upload an image and instantly receive deepfake detection results.</a:t>
            </a:r>
            <a:endParaRPr lang="en-IN" sz="342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58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90574" y="1915028"/>
            <a:ext cx="16797426" cy="74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6285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What Are DeepFake Images?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93589" y="3872484"/>
            <a:ext cx="15394411" cy="242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3420" spc="-136" dirty="0" err="1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DeepFake</a:t>
            </a:r>
            <a:r>
              <a:rPr lang="en-US" sz="3420" spc="-136" dirty="0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images are produced using AI, mainly GANs, to change </a:t>
            </a:r>
          </a:p>
          <a:p>
            <a:pPr algn="l">
              <a:lnSpc>
                <a:spcPts val="4788"/>
              </a:lnSpc>
            </a:pPr>
            <a:r>
              <a:rPr lang="en-US" sz="3420" spc="-136" dirty="0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faces or create new ones. They can make people look </a:t>
            </a:r>
          </a:p>
          <a:p>
            <a:pPr algn="l">
              <a:lnSpc>
                <a:spcPts val="4788"/>
              </a:lnSpc>
            </a:pPr>
            <a:r>
              <a:rPr lang="en-US" sz="3420" spc="-136" dirty="0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like they are doing or saying something they never </a:t>
            </a:r>
            <a:r>
              <a:rPr lang="en-US" sz="3420" spc="-136" dirty="0" err="1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did.These</a:t>
            </a:r>
            <a:r>
              <a:rPr lang="en-US" sz="3420" spc="-136" dirty="0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images</a:t>
            </a:r>
          </a:p>
          <a:p>
            <a:pPr algn="l">
              <a:lnSpc>
                <a:spcPts val="4788"/>
              </a:lnSpc>
              <a:spcBef>
                <a:spcPct val="0"/>
              </a:spcBef>
            </a:pPr>
            <a:r>
              <a:rPr lang="en-US" sz="3420" spc="-136" dirty="0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are becoming harder to distinguish from real photos.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59581" y="1259135"/>
            <a:ext cx="5241966" cy="3819843"/>
            <a:chOff x="0" y="0"/>
            <a:chExt cx="2994728" cy="21822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4728" cy="2182271"/>
            </a:xfrm>
            <a:custGeom>
              <a:avLst/>
              <a:gdLst/>
              <a:ahLst/>
              <a:cxnLst/>
              <a:rect l="l" t="t" r="r" b="b"/>
              <a:pathLst>
                <a:path w="2994728" h="2182271">
                  <a:moveTo>
                    <a:pt x="2756603" y="0"/>
                  </a:moveTo>
                  <a:lnTo>
                    <a:pt x="2994728" y="238125"/>
                  </a:lnTo>
                  <a:lnTo>
                    <a:pt x="2994728" y="1944146"/>
                  </a:lnTo>
                  <a:lnTo>
                    <a:pt x="2756603" y="2182271"/>
                  </a:lnTo>
                  <a:lnTo>
                    <a:pt x="238125" y="2182271"/>
                  </a:lnTo>
                  <a:lnTo>
                    <a:pt x="0" y="194414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756603" y="0"/>
                  </a:lnTo>
                  <a:close/>
                </a:path>
              </a:pathLst>
            </a:custGeom>
            <a:blipFill>
              <a:blip r:embed="rId3"/>
              <a:stretch>
                <a:fillRect t="-18022" b="-6684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359581" y="5503258"/>
            <a:ext cx="5241966" cy="3755042"/>
            <a:chOff x="0" y="0"/>
            <a:chExt cx="2994728" cy="21452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94728" cy="2145251"/>
            </a:xfrm>
            <a:custGeom>
              <a:avLst/>
              <a:gdLst/>
              <a:ahLst/>
              <a:cxnLst/>
              <a:rect l="l" t="t" r="r" b="b"/>
              <a:pathLst>
                <a:path w="2994728" h="2145251">
                  <a:moveTo>
                    <a:pt x="2756603" y="0"/>
                  </a:moveTo>
                  <a:lnTo>
                    <a:pt x="2994728" y="238125"/>
                  </a:lnTo>
                  <a:lnTo>
                    <a:pt x="2994728" y="1907126"/>
                  </a:lnTo>
                  <a:lnTo>
                    <a:pt x="2756603" y="2145251"/>
                  </a:lnTo>
                  <a:lnTo>
                    <a:pt x="238125" y="2145251"/>
                  </a:lnTo>
                  <a:lnTo>
                    <a:pt x="0" y="1907126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756603" y="0"/>
                  </a:lnTo>
                  <a:close/>
                </a:path>
              </a:pathLst>
            </a:custGeom>
            <a:blipFill>
              <a:blip r:embed="rId4"/>
              <a:stretch>
                <a:fillRect t="-12859" b="-6059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7541326" y="1477303"/>
            <a:ext cx="10587640" cy="976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4332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Difference Between Real and AI-Manipulated Image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89026" y="5995530"/>
            <a:ext cx="8137555" cy="37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3206" spc="96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AI-Manipulated Image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22986" y="4038659"/>
            <a:ext cx="9024320" cy="183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80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Natural skin texture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80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Uniform lighting and clear shadows</a:t>
            </a:r>
          </a:p>
          <a:p>
            <a:pPr marL="494410" lvl="1" indent="-247205" algn="l">
              <a:lnSpc>
                <a:spcPts val="3205"/>
              </a:lnSpc>
              <a:buFont typeface="Arial"/>
              <a:buChar char="•"/>
            </a:pPr>
            <a:r>
              <a:rPr lang="en-US" sz="2289" spc="-91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Sharp and aligned facial details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spc="-80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Background looks normal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>
              <a:solidFill>
                <a:srgbClr val="DEF0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289026" y="3406123"/>
            <a:ext cx="5286666" cy="365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3209" spc="96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Real image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22986" y="6635317"/>
            <a:ext cx="9965014" cy="2004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5212" lvl="1" indent="-247606" algn="l">
              <a:lnSpc>
                <a:spcPts val="3211"/>
              </a:lnSpc>
              <a:buFont typeface="Arial"/>
              <a:buChar char="•"/>
            </a:pPr>
            <a:r>
              <a:rPr lang="en-US" sz="2293" spc="-91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Over-smooth or uneven texture</a:t>
            </a:r>
          </a:p>
          <a:p>
            <a:pPr marL="495212" lvl="1" indent="-247606" algn="l">
              <a:lnSpc>
                <a:spcPts val="3211"/>
              </a:lnSpc>
              <a:buFont typeface="Arial"/>
              <a:buChar char="•"/>
            </a:pPr>
            <a:r>
              <a:rPr lang="en-US" sz="2293" spc="-91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Odd lighting or reflections</a:t>
            </a:r>
          </a:p>
          <a:p>
            <a:pPr marL="495212" lvl="1" indent="-247606" algn="l">
              <a:lnSpc>
                <a:spcPts val="3211"/>
              </a:lnSpc>
              <a:buFont typeface="Arial"/>
              <a:buChar char="•"/>
            </a:pPr>
            <a:r>
              <a:rPr lang="en-US" sz="2293" spc="-91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Slight distortions near eyes or mouth</a:t>
            </a:r>
          </a:p>
          <a:p>
            <a:pPr marL="495212" lvl="1" indent="-247606" algn="l">
              <a:lnSpc>
                <a:spcPts val="3211"/>
              </a:lnSpc>
              <a:buFont typeface="Arial"/>
              <a:buChar char="•"/>
            </a:pPr>
            <a:r>
              <a:rPr lang="en-US" sz="2293" spc="-91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Background may appear warped or blurred</a:t>
            </a:r>
          </a:p>
          <a:p>
            <a:pPr algn="l">
              <a:lnSpc>
                <a:spcPts val="3211"/>
              </a:lnSpc>
              <a:spcBef>
                <a:spcPct val="0"/>
              </a:spcBef>
            </a:pPr>
            <a:endParaRPr lang="en-US" sz="2293" spc="-91">
              <a:solidFill>
                <a:srgbClr val="DEF0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87602" y="1595212"/>
            <a:ext cx="16723672" cy="87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2"/>
              </a:lnSpc>
            </a:pPr>
            <a:r>
              <a:rPr lang="en-US" sz="7371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Why Detection Is        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89814" y="3766611"/>
            <a:ext cx="14369486" cy="3326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7342" lvl="1" indent="-403671" algn="l">
              <a:lnSpc>
                <a:spcPts val="5235"/>
              </a:lnSpc>
              <a:buFont typeface="Arial"/>
              <a:buChar char="•"/>
            </a:pPr>
            <a:r>
              <a:rPr lang="en-US" sz="3739" spc="-149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Prevents misuse of someone’s identity</a:t>
            </a:r>
          </a:p>
          <a:p>
            <a:pPr marL="807342" lvl="1" indent="-403671" algn="l">
              <a:lnSpc>
                <a:spcPts val="5235"/>
              </a:lnSpc>
              <a:buFont typeface="Arial"/>
              <a:buChar char="•"/>
            </a:pPr>
            <a:r>
              <a:rPr lang="en-US" sz="3739" spc="-149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Stops the spread of fake or misleading content</a:t>
            </a:r>
          </a:p>
          <a:p>
            <a:pPr marL="807342" lvl="1" indent="-403671" algn="l">
              <a:lnSpc>
                <a:spcPts val="5235"/>
              </a:lnSpc>
              <a:buFont typeface="Arial"/>
              <a:buChar char="•"/>
            </a:pPr>
            <a:r>
              <a:rPr lang="en-US" sz="3739" spc="-149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Protects the reputation of individuals and organizations</a:t>
            </a:r>
          </a:p>
          <a:p>
            <a:pPr marL="807342" lvl="1" indent="-403671" algn="l">
              <a:lnSpc>
                <a:spcPts val="5235"/>
              </a:lnSpc>
              <a:buFont typeface="Arial"/>
              <a:buChar char="•"/>
            </a:pPr>
            <a:r>
              <a:rPr lang="en-US" sz="3739" spc="-149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Helps maintain trust on social media and digital platforms</a:t>
            </a:r>
          </a:p>
          <a:p>
            <a:pPr algn="l">
              <a:lnSpc>
                <a:spcPts val="5235"/>
              </a:lnSpc>
              <a:spcBef>
                <a:spcPct val="0"/>
              </a:spcBef>
            </a:pPr>
            <a:endParaRPr lang="en-US" sz="3739" spc="-149">
              <a:solidFill>
                <a:srgbClr val="DEF0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677447" y="2441035"/>
            <a:ext cx="16723672" cy="87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2"/>
              </a:lnSpc>
            </a:pPr>
            <a:r>
              <a:rPr lang="en-US" sz="7371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      Important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558984" y="611864"/>
            <a:ext cx="1179483" cy="416836"/>
            <a:chOff x="0" y="0"/>
            <a:chExt cx="310646" cy="1097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0646" cy="109784"/>
            </a:xfrm>
            <a:custGeom>
              <a:avLst/>
              <a:gdLst/>
              <a:ahLst/>
              <a:cxnLst/>
              <a:rect l="l" t="t" r="r" b="b"/>
              <a:pathLst>
                <a:path w="310646" h="109784">
                  <a:moveTo>
                    <a:pt x="54892" y="0"/>
                  </a:moveTo>
                  <a:lnTo>
                    <a:pt x="255754" y="0"/>
                  </a:lnTo>
                  <a:cubicBezTo>
                    <a:pt x="286070" y="0"/>
                    <a:pt x="310646" y="24576"/>
                    <a:pt x="310646" y="54892"/>
                  </a:cubicBezTo>
                  <a:lnTo>
                    <a:pt x="310646" y="54892"/>
                  </a:lnTo>
                  <a:cubicBezTo>
                    <a:pt x="310646" y="69450"/>
                    <a:pt x="304862" y="83412"/>
                    <a:pt x="294568" y="93706"/>
                  </a:cubicBezTo>
                  <a:cubicBezTo>
                    <a:pt x="284274" y="104001"/>
                    <a:pt x="270312" y="109784"/>
                    <a:pt x="255754" y="109784"/>
                  </a:cubicBezTo>
                  <a:lnTo>
                    <a:pt x="54892" y="109784"/>
                  </a:lnTo>
                  <a:cubicBezTo>
                    <a:pt x="40334" y="109784"/>
                    <a:pt x="26372" y="104001"/>
                    <a:pt x="16077" y="93706"/>
                  </a:cubicBezTo>
                  <a:cubicBezTo>
                    <a:pt x="5783" y="83412"/>
                    <a:pt x="0" y="69450"/>
                    <a:pt x="0" y="54892"/>
                  </a:cubicBezTo>
                  <a:lnTo>
                    <a:pt x="0" y="54892"/>
                  </a:lnTo>
                  <a:cubicBezTo>
                    <a:pt x="0" y="40334"/>
                    <a:pt x="5783" y="26372"/>
                    <a:pt x="16077" y="16077"/>
                  </a:cubicBezTo>
                  <a:cubicBezTo>
                    <a:pt x="26372" y="5783"/>
                    <a:pt x="40334" y="0"/>
                    <a:pt x="548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B4C7D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10646" cy="147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842464" y="611864"/>
            <a:ext cx="416836" cy="41683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B4C7D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927371"/>
            <a:ext cx="15709767" cy="75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4"/>
              </a:lnSpc>
            </a:pPr>
            <a:r>
              <a:rPr lang="en-US" sz="6338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Machine Learning Workflow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0315" y="3246795"/>
            <a:ext cx="13485102" cy="418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7275" lvl="1" indent="-423637" algn="l">
              <a:lnSpc>
                <a:spcPts val="5494"/>
              </a:lnSpc>
              <a:buAutoNum type="arabicPeriod"/>
            </a:pPr>
            <a:r>
              <a:rPr lang="en-US" sz="3924" spc="-15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Dataset Collection (Real + Fake images)</a:t>
            </a:r>
          </a:p>
          <a:p>
            <a:pPr marL="847275" lvl="1" indent="-423637" algn="l">
              <a:lnSpc>
                <a:spcPts val="5494"/>
              </a:lnSpc>
              <a:buAutoNum type="arabicPeriod"/>
            </a:pPr>
            <a:r>
              <a:rPr lang="en-US" sz="3924" spc="-15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Preprocessing (resize, normalize, crop face)</a:t>
            </a:r>
          </a:p>
          <a:p>
            <a:pPr marL="847275" lvl="1" indent="-423637" algn="l">
              <a:lnSpc>
                <a:spcPts val="5494"/>
              </a:lnSpc>
              <a:buAutoNum type="arabicPeriod"/>
            </a:pPr>
            <a:r>
              <a:rPr lang="en-US" sz="3924" spc="-15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Feature Extraction (using CNN layers)</a:t>
            </a:r>
          </a:p>
          <a:p>
            <a:pPr marL="847275" lvl="1" indent="-423637" algn="l">
              <a:lnSpc>
                <a:spcPts val="5494"/>
              </a:lnSpc>
              <a:buAutoNum type="arabicPeriod"/>
            </a:pPr>
            <a:r>
              <a:rPr lang="en-US" sz="3924" spc="-15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Model Training (learns Real vs Fake)</a:t>
            </a:r>
          </a:p>
          <a:p>
            <a:pPr marL="847275" lvl="1" indent="-423637" algn="l">
              <a:lnSpc>
                <a:spcPts val="5494"/>
              </a:lnSpc>
              <a:buAutoNum type="arabicPeriod"/>
            </a:pPr>
            <a:r>
              <a:rPr lang="en-US" sz="3924" spc="-156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Prediction (classifies image as Genuine or Manipulated)</a:t>
            </a:r>
          </a:p>
          <a:p>
            <a:pPr algn="l">
              <a:lnSpc>
                <a:spcPts val="5494"/>
              </a:lnSpc>
              <a:spcBef>
                <a:spcPct val="0"/>
              </a:spcBef>
            </a:pPr>
            <a:endParaRPr lang="en-US" sz="3924" spc="-156">
              <a:solidFill>
                <a:srgbClr val="DEF0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842464" y="611864"/>
            <a:ext cx="416836" cy="41683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B4C7D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40056" y="2035933"/>
            <a:ext cx="14407888" cy="754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9"/>
              </a:lnSpc>
            </a:pPr>
            <a:r>
              <a:rPr lang="en-US" sz="6344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Data Used for ML Training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69086" y="2667067"/>
            <a:ext cx="16737414" cy="381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endParaRPr/>
          </a:p>
          <a:p>
            <a:pPr marL="925139" lvl="1" indent="-462570" algn="l">
              <a:lnSpc>
                <a:spcPts val="5999"/>
              </a:lnSpc>
              <a:buFont typeface="Arial"/>
              <a:buChar char="•"/>
            </a:pPr>
            <a:r>
              <a:rPr lang="en-US" sz="4285" spc="-171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FaceForensics++ (Real + Fake faces)</a:t>
            </a:r>
          </a:p>
          <a:p>
            <a:pPr marL="925139" lvl="1" indent="-462570" algn="l">
              <a:lnSpc>
                <a:spcPts val="5999"/>
              </a:lnSpc>
              <a:buFont typeface="Arial"/>
              <a:buChar char="•"/>
            </a:pPr>
            <a:r>
              <a:rPr lang="en-US" sz="4285" spc="-171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Celeb-DF v2 (High-quality deepfake images)</a:t>
            </a:r>
          </a:p>
          <a:p>
            <a:pPr marL="925139" lvl="1" indent="-462570" algn="l">
              <a:lnSpc>
                <a:spcPts val="5999"/>
              </a:lnSpc>
              <a:buFont typeface="Arial"/>
              <a:buChar char="•"/>
            </a:pPr>
            <a:r>
              <a:rPr lang="en-US" sz="4285" spc="-171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DFDC Dataset (Mixed quality, real-world conditions)</a:t>
            </a:r>
          </a:p>
          <a:p>
            <a:pPr algn="l">
              <a:lnSpc>
                <a:spcPts val="5999"/>
              </a:lnSpc>
              <a:spcBef>
                <a:spcPct val="0"/>
              </a:spcBef>
            </a:pPr>
            <a:endParaRPr lang="en-US" sz="4285" spc="-171">
              <a:solidFill>
                <a:srgbClr val="DEF0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20253" y="1030036"/>
            <a:ext cx="10247494" cy="182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8"/>
              </a:lnSpc>
            </a:pPr>
            <a:r>
              <a:rPr lang="en-US" sz="8129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Final Output (ML Prediction)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208046"/>
            <a:ext cx="15969760" cy="531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6"/>
              </a:lnSpc>
            </a:pPr>
            <a:r>
              <a:rPr lang="en-US" sz="3326" spc="-133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When an image is given to the model:</a:t>
            </a:r>
          </a:p>
          <a:p>
            <a:pPr algn="ctr">
              <a:lnSpc>
                <a:spcPts val="4656"/>
              </a:lnSpc>
            </a:pPr>
            <a:endParaRPr lang="en-US" sz="3326" spc="-133">
              <a:solidFill>
                <a:srgbClr val="DEF0FF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ctr">
              <a:lnSpc>
                <a:spcPts val="4656"/>
              </a:lnSpc>
            </a:pPr>
            <a:r>
              <a:rPr lang="en-US" sz="3326" spc="-133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ML extracts features</a:t>
            </a:r>
          </a:p>
          <a:p>
            <a:pPr algn="ctr">
              <a:lnSpc>
                <a:spcPts val="4656"/>
              </a:lnSpc>
            </a:pPr>
            <a:endParaRPr lang="en-US" sz="3326" spc="-133">
              <a:solidFill>
                <a:srgbClr val="DEF0FF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ctr">
              <a:lnSpc>
                <a:spcPts val="4656"/>
              </a:lnSpc>
            </a:pPr>
            <a:r>
              <a:rPr lang="en-US" sz="3326" spc="-133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Compares them with learned patterns</a:t>
            </a:r>
          </a:p>
          <a:p>
            <a:pPr algn="ctr">
              <a:lnSpc>
                <a:spcPts val="4656"/>
              </a:lnSpc>
            </a:pPr>
            <a:endParaRPr lang="en-US" sz="3326" spc="-133">
              <a:solidFill>
                <a:srgbClr val="DEF0FF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ctr">
              <a:lnSpc>
                <a:spcPts val="4656"/>
              </a:lnSpc>
            </a:pPr>
            <a:r>
              <a:rPr lang="en-US" sz="3326" spc="-133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Outputs: Real or Fake</a:t>
            </a:r>
          </a:p>
          <a:p>
            <a:pPr algn="ctr">
              <a:lnSpc>
                <a:spcPts val="4656"/>
              </a:lnSpc>
            </a:pPr>
            <a:endParaRPr lang="en-US" sz="3326" spc="-133">
              <a:solidFill>
                <a:srgbClr val="DEF0FF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ctr">
              <a:lnSpc>
                <a:spcPts val="4656"/>
              </a:lnSpc>
              <a:spcBef>
                <a:spcPct val="0"/>
              </a:spcBef>
            </a:pPr>
            <a:r>
              <a:rPr lang="en-US" sz="3326" spc="-133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This helps prevent identity misuse, fraud, and misinformation.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r="-1250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842464" y="611864"/>
            <a:ext cx="416836" cy="41683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3B4C7D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43847" y="3139054"/>
            <a:ext cx="12981805" cy="2967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sz="15879">
                <a:solidFill>
                  <a:srgbClr val="DEF0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5160" y="7063106"/>
            <a:ext cx="16644140" cy="89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spc="-9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If you have any questions, feel free to ask.</a:t>
            </a:r>
          </a:p>
          <a:p>
            <a:pPr algn="ctr">
              <a:lnSpc>
                <a:spcPts val="3439"/>
              </a:lnSpc>
              <a:spcBef>
                <a:spcPct val="0"/>
              </a:spcBef>
            </a:pPr>
            <a:r>
              <a:rPr lang="en-US" sz="2456" spc="-98">
                <a:solidFill>
                  <a:srgbClr val="DEF0FF"/>
                </a:solidFill>
                <a:latin typeface="Telegraf"/>
                <a:ea typeface="Telegraf"/>
                <a:cs typeface="Telegraf"/>
                <a:sym typeface="Telegraf"/>
              </a:rPr>
              <a:t> Your feedback is appreciated.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522</Words>
  <Application>Microsoft Office PowerPoint</Application>
  <PresentationFormat>Custom</PresentationFormat>
  <Paragraphs>71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Telegraf</vt:lpstr>
      <vt:lpstr>Calibri</vt:lpstr>
      <vt:lpstr>Arial</vt:lpstr>
      <vt:lpstr>RQND Pro UltraWide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detector</dc:title>
  <dc:creator>frah adeed</dc:creator>
  <cp:lastModifiedBy>Frah Adeed</cp:lastModifiedBy>
  <cp:revision>2</cp:revision>
  <dcterms:created xsi:type="dcterms:W3CDTF">2006-08-16T00:00:00Z</dcterms:created>
  <dcterms:modified xsi:type="dcterms:W3CDTF">2025-11-27T06:05:18Z</dcterms:modified>
  <dc:identifier>DAG5uRG_VUo</dc:identifier>
</cp:coreProperties>
</file>